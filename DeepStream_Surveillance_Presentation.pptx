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Good morning/afternoon everyone. Today, I am presenting the transition of our industrial surveillance system to NVIDIA DeepStream hardware acceleration.</a:t>
            </a:r>
          </a:p>
          <a:p/>
          <a:p>
            <a:r>
              <a:t>We have recently completed a major restructuring of our codebase to clean up legacy CPU pipelines and establish two distinct ways of executing DeepStream: a C++ native application and a custom Python GStreamer pipeline. I will explain how they differ, which one is best for our use case, and walk you through the restructured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To understand why we moved to DeepStream, let's look at the bottleneck we had before. Our legacy pipeline used OpenCV, which required decoding videos on the CPU, copying those frames into CPU RAM, and sending them back and forth to the GPU for inference. This limited our capability to scale to multiple high-res feeds.</a:t>
            </a:r>
          </a:p>
          <a:p/>
          <a:p>
            <a:r>
              <a:t>NVIDIA DeepStream completely eliminates this. It uses specialized hardware decoders to pull H.264 video streams directly into GPU memory. From decoding to scaling, object detection, tracking, and OSD drawing, the frames never leave the GPU. This is known as Zero-Copy memory flow, which dramatically reduces CPU utilization.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We have restructured our workspace to separate the two different ways of running DeepStream:</a:t>
            </a:r>
          </a:p>
          <a:p/>
          <a:p>
            <a:r>
              <a:t>First, we have the C++ Native pipeline in 'cpp_deepstream_pipeline/'. It is run by executing NVIDIA's pre-compiled deepstream-app utility against config files. It compiles TensorRT engines and draws bounding boxes very quickly, but it is a generic tool. It cannot read our Python database or run our alerts logic.</a:t>
            </a:r>
          </a:p>
          <a:p/>
          <a:p>
            <a:r>
              <a:t>Second, we have the Python Custom pipeline in 'python_deepstream_pipeline/'. It creates the same GStreamer elements but wraps them in a Python process. This allows us to intercept the output tensors, match them against our FAISS face database, and trigger our custom logging and WhatsApp alerting systems.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If you are wondering which option we will actually deploy, the answer is Option B (the Python pipeline).</a:t>
            </a:r>
          </a:p>
          <a:p/>
          <a:p>
            <a:r>
              <a:t>The reason is that Option B integrates all our business logic. While the video decoding, face detection, and embedding generation run entirely on the GPU, the Python pad probe acts as the coordinator. It queries the FAISS database, aggregates embeddings over multiple frames (so one blurry face doesn't ruin the accuracy), and submits snapshots and log events asynchronously to prevent blocking the GPU. It gives us all the hardware acceleration of C++ but with the full intelligence of our custom Python codebase.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To make the project folder easy to maintain, we removed all unused files. Previously, the repository was cluttered with a parallel OpenCV pipeline (entry_pipeline) and files for CPU-based tracking and blur checks.</a:t>
            </a:r>
          </a:p>
          <a:p/>
          <a:p>
            <a:r>
              <a:t>Now, all legacy folders are gone, and we have cleanly separated the Python and C++ DeepStream workflows at the root level in 'python_deepstream_pipeline/' and 'cpp_deepstream_pipeline/'. The shared backend functions (like FAISS matching, database management, and asynchronous I/O saving) remain organized in the central 'core/' directory, keeping the codebase dry and modular.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Let's walk through the data flow. A critical design goal was to keep the AI pipeline fast. Writing to files, serving APIs, or sending WhatsApp messages are slow tasks that would block real-time GPU processing.</a:t>
            </a:r>
          </a:p>
          <a:p/>
          <a:p>
            <a:r>
              <a:t>Our architecture decouples these. DeepStream writes event data locally and asynchronously to 'logs/events.jsonl'. FastAPI tails this file and serves it over a lightweight network endpoint. The WhatsApp bot is completely independent—it queries the FastAPI server and handles Selenium automation in its own separate process. If WhatsApp lags, the surveillance system continues running at full speed without interruptions.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a:t>
            </a:r>
          </a:p>
          <a:p>
            <a:r>
              <a:t>In summary, we have transitioned from a slow, CPU-bottlenecked OpenCV model to a fully GPU-accelerated NVIDIA DeepStream framework. We have segregated our pipelines so that the C++ configurations and custom C++ parsers live in 'cpp_deepstream_pipeline/', and our production-ready Python coordination script lives in 'python_deepstream_pipeline/'.</a:t>
            </a:r>
          </a:p>
          <a:p/>
          <a:p>
            <a:r>
              <a:t>The system is now fully structured, cleaned, and optimized. Our next step is to run it on our CUDA-compatible target GPU server to measure the frame rate improvements across our multiple industrial cameras. Thank you, and I am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011680"/>
            <a:ext cx="10332720" cy="1828800"/>
          </a:xfrm>
          <a:prstGeom prst="rect">
            <a:avLst/>
          </a:prstGeom>
          <a:noFill/>
        </p:spPr>
        <p:txBody>
          <a:bodyPr wrap="square">
            <a:spAutoFit/>
          </a:bodyPr>
          <a:lstStyle/>
          <a:p>
            <a:pPr>
              <a:defRPr sz="4400" b="1">
                <a:solidFill>
                  <a:srgbClr val="10B981"/>
                </a:solidFill>
                <a:latin typeface="Calibri"/>
              </a:defRPr>
            </a:pPr>
            <a:r>
              <a:t>NVIDIA DEEPSTREAM TRANSITION</a:t>
            </a:r>
          </a:p>
          <a:p>
            <a:pPr>
              <a:defRPr sz="2800">
                <a:solidFill>
                  <a:srgbClr val="F1F5F9"/>
                </a:solidFill>
                <a:latin typeface="Calibri"/>
              </a:defRPr>
            </a:pPr>
            <a:r>
              <a:t>High-Performance Multi-Camera AI Surveillance &amp; Recognition</a:t>
            </a:r>
          </a:p>
        </p:txBody>
      </p:sp>
      <p:sp>
        <p:nvSpPr>
          <p:cNvPr id="3" name="TextBox 2"/>
          <p:cNvSpPr txBox="1"/>
          <p:nvPr/>
        </p:nvSpPr>
        <p:spPr>
          <a:xfrm>
            <a:off x="914400" y="4114800"/>
            <a:ext cx="10332720" cy="1371600"/>
          </a:xfrm>
          <a:prstGeom prst="rect">
            <a:avLst/>
          </a:prstGeom>
          <a:noFill/>
        </p:spPr>
        <p:txBody>
          <a:bodyPr wrap="none">
            <a:spAutoFit/>
          </a:bodyPr>
          <a:lstStyle/>
          <a:p>
            <a:pPr>
              <a:defRPr sz="1800" b="1">
                <a:solidFill>
                  <a:srgbClr val="3B82F6"/>
                </a:solidFill>
                <a:latin typeface="Calibri"/>
              </a:defRPr>
            </a:pPr>
            <a:r>
              <a:t>Ha-Meem Group Industrial Surveillance Architecture</a:t>
            </a:r>
          </a:p>
          <a:p>
            <a:pPr>
              <a:defRPr sz="1400">
                <a:solidFill>
                  <a:srgbClr val="94A3B8"/>
                </a:solidFill>
                <a:latin typeface="Calibri"/>
              </a:defRPr>
            </a:pPr>
            <a:r>
              <a:t>Presenting: Reorganized Pipeline Structure &amp; Hardware Acceleration Strategy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800" b="1">
                <a:solidFill>
                  <a:srgbClr val="F1F5F9"/>
                </a:solidFill>
                <a:latin typeface="Calibri"/>
              </a:defRPr>
            </a:pPr>
            <a:r>
              <a:t>The Challenge: CPU Bottlenecks vs. GPU Acceleration</a:t>
            </a:r>
          </a:p>
        </p:txBody>
      </p:sp>
      <p:sp>
        <p:nvSpPr>
          <p:cNvPr id="3" name="TextBox 2"/>
          <p:cNvSpPr txBox="1"/>
          <p:nvPr/>
        </p:nvSpPr>
        <p:spPr>
          <a:xfrm>
            <a:off x="685800" y="1645920"/>
            <a:ext cx="5120640" cy="4114800"/>
          </a:xfrm>
          <a:prstGeom prst="rect">
            <a:avLst/>
          </a:prstGeom>
          <a:noFill/>
        </p:spPr>
        <p:txBody>
          <a:bodyPr wrap="square">
            <a:spAutoFit/>
          </a:bodyPr>
          <a:lstStyle/>
          <a:p>
            <a:pPr>
              <a:defRPr sz="2200" b="1">
                <a:solidFill>
                  <a:srgbClr val="EF4444"/>
                </a:solidFill>
                <a:latin typeface="Calibri"/>
              </a:defRPr>
            </a:pPr>
            <a:r>
              <a:t>Traditional OpenCV Pipeline (Legacy)</a:t>
            </a:r>
          </a:p>
          <a:p>
            <a:pPr>
              <a:spcAft>
                <a:spcPts val="800"/>
              </a:spcAft>
              <a:defRPr sz="1600">
                <a:solidFill>
                  <a:srgbClr val="F1F5F9"/>
                </a:solidFill>
              </a:defRPr>
            </a:pPr>
            <a:r>
              <a:t>• Relies heavily on Python threads and CPU decoding</a:t>
            </a:r>
          </a:p>
          <a:p>
            <a:pPr>
              <a:spcAft>
                <a:spcPts val="800"/>
              </a:spcAft>
              <a:defRPr sz="1600">
                <a:solidFill>
                  <a:srgbClr val="F1F5F9"/>
                </a:solidFill>
              </a:defRPr>
            </a:pPr>
            <a:r>
              <a:t>• Frames must be copied repeatedly between GPU and CPU RAM</a:t>
            </a:r>
          </a:p>
          <a:p>
            <a:pPr>
              <a:spcAft>
                <a:spcPts val="800"/>
              </a:spcAft>
              <a:defRPr sz="1600">
                <a:solidFill>
                  <a:srgbClr val="F1F5F9"/>
                </a:solidFill>
              </a:defRPr>
            </a:pPr>
            <a:r>
              <a:t>• Inference is serialized or split across subprocesses</a:t>
            </a:r>
          </a:p>
          <a:p>
            <a:pPr>
              <a:spcAft>
                <a:spcPts val="800"/>
              </a:spcAft>
              <a:defRPr sz="1600">
                <a:solidFill>
                  <a:srgbClr val="F1F5F9"/>
                </a:solidFill>
              </a:defRPr>
            </a:pPr>
            <a:r>
              <a:t>• Result: Scalability is bottlenecked, causing frame drop and high CPU usage</a:t>
            </a:r>
          </a:p>
        </p:txBody>
      </p:sp>
      <p:sp>
        <p:nvSpPr>
          <p:cNvPr id="4" name="TextBox 3"/>
          <p:cNvSpPr txBox="1"/>
          <p:nvPr/>
        </p:nvSpPr>
        <p:spPr>
          <a:xfrm>
            <a:off x="6217920" y="1645920"/>
            <a:ext cx="5120640" cy="4114800"/>
          </a:xfrm>
          <a:prstGeom prst="rect">
            <a:avLst/>
          </a:prstGeom>
          <a:noFill/>
        </p:spPr>
        <p:txBody>
          <a:bodyPr wrap="square">
            <a:spAutoFit/>
          </a:bodyPr>
          <a:lstStyle/>
          <a:p>
            <a:pPr>
              <a:defRPr sz="2200" b="1">
                <a:solidFill>
                  <a:srgbClr val="10B981"/>
                </a:solidFill>
                <a:latin typeface="Calibri"/>
              </a:defRPr>
            </a:pPr>
            <a:r>
              <a:t>NVIDIA DeepStream Pipeline</a:t>
            </a:r>
          </a:p>
          <a:p>
            <a:pPr>
              <a:spcAft>
                <a:spcPts val="800"/>
              </a:spcAft>
              <a:defRPr sz="1600">
                <a:solidFill>
                  <a:srgbClr val="F1F5F9"/>
                </a:solidFill>
              </a:defRPr>
            </a:pPr>
            <a:r>
              <a:t>• Video decoding is hardware-accelerated directly on the GPU (NVDEC)</a:t>
            </a:r>
          </a:p>
          <a:p>
            <a:pPr>
              <a:spcAft>
                <a:spcPts val="800"/>
              </a:spcAft>
              <a:defRPr sz="1600">
                <a:solidFill>
                  <a:srgbClr val="F1F5F9"/>
                </a:solidFill>
              </a:defRPr>
            </a:pPr>
            <a:r>
              <a:t>• Zero-Copy memory flow (frames stay in GPU memory (NVMM) during processing)</a:t>
            </a:r>
          </a:p>
          <a:p>
            <a:pPr>
              <a:spcAft>
                <a:spcPts val="800"/>
              </a:spcAft>
              <a:defRPr sz="1600">
                <a:solidFill>
                  <a:srgbClr val="F1F5F9"/>
                </a:solidFill>
              </a:defRPr>
            </a:pPr>
            <a:r>
              <a:t>• TensorRT handles execution of SCRFD &amp; AdaFace at sub-millisecond speeds</a:t>
            </a:r>
          </a:p>
          <a:p>
            <a:pPr>
              <a:spcAft>
                <a:spcPts val="800"/>
              </a:spcAft>
              <a:defRPr sz="1600">
                <a:solidFill>
                  <a:srgbClr val="F1F5F9"/>
                </a:solidFill>
              </a:defRPr>
            </a:pPr>
            <a:r>
              <a:t>• Capable of streaming multiple camera feeds concurrently at full FPS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800" b="1">
                <a:solidFill>
                  <a:srgbClr val="F1F5F9"/>
                </a:solidFill>
                <a:latin typeface="Calibri"/>
              </a:defRPr>
            </a:pPr>
            <a:r>
              <a:t>The Restructured Repository: Two Execution Options</a:t>
            </a:r>
          </a:p>
        </p:txBody>
      </p:sp>
      <p:sp>
        <p:nvSpPr>
          <p:cNvPr id="3" name="TextBox 2"/>
          <p:cNvSpPr txBox="1"/>
          <p:nvPr/>
        </p:nvSpPr>
        <p:spPr>
          <a:xfrm>
            <a:off x="685800" y="1645920"/>
            <a:ext cx="5120640" cy="4114800"/>
          </a:xfrm>
          <a:prstGeom prst="rect">
            <a:avLst/>
          </a:prstGeom>
          <a:noFill/>
        </p:spPr>
        <p:txBody>
          <a:bodyPr wrap="square">
            <a:spAutoFit/>
          </a:bodyPr>
          <a:lstStyle/>
          <a:p>
            <a:pPr>
              <a:defRPr sz="2200" b="1">
                <a:solidFill>
                  <a:srgbClr val="3B82F6"/>
                </a:solidFill>
                <a:latin typeface="Calibri"/>
              </a:defRPr>
            </a:pPr>
            <a:r>
              <a:t>1. C++ Native Application (Option A)</a:t>
            </a:r>
          </a:p>
          <a:p>
            <a:pPr>
              <a:spcAft>
                <a:spcPts val="800"/>
              </a:spcAft>
              <a:defRPr sz="1600">
                <a:solidFill>
                  <a:srgbClr val="F1F5F9"/>
                </a:solidFill>
              </a:defRPr>
            </a:pPr>
            <a:r>
              <a:t>• Orchestrated natively in compiled C/C++</a:t>
            </a:r>
          </a:p>
          <a:p>
            <a:pPr>
              <a:spcAft>
                <a:spcPts val="800"/>
              </a:spcAft>
              <a:defRPr sz="1600">
                <a:solidFill>
                  <a:srgbClr val="F1F5F9"/>
                </a:solidFill>
              </a:defRPr>
            </a:pPr>
            <a:r>
              <a:t>• Executes based on ha_meem_master_config.txt configuration</a:t>
            </a:r>
          </a:p>
          <a:p>
            <a:pPr>
              <a:spcAft>
                <a:spcPts val="800"/>
              </a:spcAft>
              <a:defRPr sz="1600">
                <a:solidFill>
                  <a:srgbClr val="F1F5F9"/>
                </a:solidFill>
              </a:defRPr>
            </a:pPr>
            <a:r>
              <a:t>• Relies on compiled custom C++ parsers for output tensors</a:t>
            </a:r>
          </a:p>
          <a:p>
            <a:pPr>
              <a:spcAft>
                <a:spcPts val="800"/>
              </a:spcAft>
              <a:defRPr sz="1600">
                <a:solidFill>
                  <a:srgbClr val="F1F5F9"/>
                </a:solidFill>
              </a:defRPr>
            </a:pPr>
            <a:r>
              <a:t>• Draws tracking boxes and displays performance scores</a:t>
            </a:r>
          </a:p>
          <a:p>
            <a:pPr>
              <a:spcAft>
                <a:spcPts val="800"/>
              </a:spcAft>
              <a:defRPr sz="1600">
                <a:solidFill>
                  <a:srgbClr val="F1F5F9"/>
                </a:solidFill>
              </a:defRPr>
            </a:pPr>
            <a:r>
              <a:t>• Limitations: Cannot natively query Python database (FAISS) or run custom business logic</a:t>
            </a:r>
          </a:p>
        </p:txBody>
      </p:sp>
      <p:sp>
        <p:nvSpPr>
          <p:cNvPr id="4" name="TextBox 3"/>
          <p:cNvSpPr txBox="1"/>
          <p:nvPr/>
        </p:nvSpPr>
        <p:spPr>
          <a:xfrm>
            <a:off x="6217920" y="1645920"/>
            <a:ext cx="5120640" cy="4114800"/>
          </a:xfrm>
          <a:prstGeom prst="rect">
            <a:avLst/>
          </a:prstGeom>
          <a:noFill/>
        </p:spPr>
        <p:txBody>
          <a:bodyPr wrap="square">
            <a:spAutoFit/>
          </a:bodyPr>
          <a:lstStyle/>
          <a:p>
            <a:pPr>
              <a:defRPr sz="2200" b="1">
                <a:solidFill>
                  <a:srgbClr val="10B981"/>
                </a:solidFill>
                <a:latin typeface="Calibri"/>
              </a:defRPr>
            </a:pPr>
            <a:r>
              <a:t>2. Python Custom Pipeline (Option B)</a:t>
            </a:r>
          </a:p>
          <a:p>
            <a:pPr>
              <a:spcAft>
                <a:spcPts val="800"/>
              </a:spcAft>
              <a:defRPr sz="1600">
                <a:solidFill>
                  <a:srgbClr val="F1F5F9"/>
                </a:solidFill>
              </a:defRPr>
            </a:pPr>
            <a:r>
              <a:t>• GStreamer elements are created and run via Python GObject bindings</a:t>
            </a:r>
          </a:p>
          <a:p>
            <a:pPr>
              <a:spcAft>
                <a:spcPts val="800"/>
              </a:spcAft>
              <a:defRPr sz="1600">
                <a:solidFill>
                  <a:srgbClr val="F1F5F9"/>
                </a:solidFill>
              </a:defRPr>
            </a:pPr>
            <a:r>
              <a:t>• Uses Python custom callbacks (Pad Probes) on inference outputs</a:t>
            </a:r>
          </a:p>
          <a:p>
            <a:pPr>
              <a:spcAft>
                <a:spcPts val="800"/>
              </a:spcAft>
              <a:defRPr sz="1600">
                <a:solidFill>
                  <a:srgbClr val="F1F5F9"/>
                </a:solidFill>
              </a:defRPr>
            </a:pPr>
            <a:r>
              <a:t>• Extracts face embeddings on the fly &amp; queries FAISS face gallery</a:t>
            </a:r>
          </a:p>
          <a:p>
            <a:pPr>
              <a:spcAft>
                <a:spcPts val="800"/>
              </a:spcAft>
              <a:defRPr sz="1600">
                <a:solidFill>
                  <a:srgbClr val="F1F5F9"/>
                </a:solidFill>
              </a:defRPr>
            </a:pPr>
            <a:r>
              <a:t>• Runs temporal consensus logic (EmbeddingAggregator)</a:t>
            </a:r>
          </a:p>
          <a:p>
            <a:pPr>
              <a:spcAft>
                <a:spcPts val="800"/>
              </a:spcAft>
              <a:defRPr sz="1600">
                <a:solidFill>
                  <a:srgbClr val="F1F5F9"/>
                </a:solidFill>
              </a:defRPr>
            </a:pPr>
            <a:r>
              <a:t>• Logs events to JSONL and saves snapshot crops in background thread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800" b="1">
                <a:solidFill>
                  <a:srgbClr val="F1F5F9"/>
                </a:solidFill>
                <a:latin typeface="Calibri"/>
              </a:defRPr>
            </a:pPr>
            <a:r>
              <a:t>Why the Python Pipeline is Our Production Standard</a:t>
            </a:r>
          </a:p>
        </p:txBody>
      </p:sp>
      <p:sp>
        <p:nvSpPr>
          <p:cNvPr id="3" name="TextBox 2"/>
          <p:cNvSpPr txBox="1"/>
          <p:nvPr/>
        </p:nvSpPr>
        <p:spPr>
          <a:xfrm>
            <a:off x="685800" y="1645920"/>
            <a:ext cx="10817352" cy="4114800"/>
          </a:xfrm>
          <a:prstGeom prst="rect">
            <a:avLst/>
          </a:prstGeom>
          <a:noFill/>
        </p:spPr>
        <p:txBody>
          <a:bodyPr wrap="square">
            <a:spAutoFit/>
          </a:bodyPr>
          <a:lstStyle/>
          <a:p>
            <a:pPr>
              <a:spcAft>
                <a:spcPts val="1400"/>
              </a:spcAft>
              <a:defRPr sz="1800" b="1">
                <a:solidFill>
                  <a:srgbClr val="10B981"/>
                </a:solidFill>
              </a:defRPr>
            </a:pPr>
            <a:r>
              <a:t>Option B (Python Pipeline) is recommended for production deployment because:</a:t>
            </a:r>
          </a:p>
          <a:p>
            <a:pPr>
              <a:spcAft>
                <a:spcPts val="1000"/>
              </a:spcAft>
              <a:defRPr sz="1600" b="1">
                <a:solidFill>
                  <a:srgbClr val="F1F5F9"/>
                </a:solidFill>
              </a:defRPr>
            </a:pPr>
            <a:r>
              <a:t>✔ Full Identity Matching: </a:t>
            </a:r>
            <a:r>
              <a:rPr sz="1400">
                <a:solidFill>
                  <a:srgbClr val="94A3B8"/>
                </a:solidFill>
              </a:rPr>
              <a:t>Unlike C++, Python accesses the FAISS database (FaceDatabase) and maps the 512-dimension face vectors to actual employee IDs and names in real-time.</a:t>
            </a:r>
          </a:p>
          <a:p>
            <a:pPr>
              <a:spcAft>
                <a:spcPts val="1000"/>
              </a:spcAft>
              <a:defRPr sz="1600" b="1">
                <a:solidFill>
                  <a:srgbClr val="F1F5F9"/>
                </a:solidFill>
              </a:defRPr>
            </a:pPr>
            <a:r>
              <a:t>✔ Temporal Consensus Aggregator: </a:t>
            </a:r>
            <a:r>
              <a:rPr sz="1400">
                <a:solidFill>
                  <a:srgbClr val="94A3B8"/>
                </a:solidFill>
              </a:rPr>
              <a:t>Averaging face crops over a sliding window (using EmbeddingAggregator) drastically reduces facial matching noise. A visitor passing through doesn't trigger false alerts on a single bad frame.</a:t>
            </a:r>
          </a:p>
          <a:p>
            <a:pPr>
              <a:spcAft>
                <a:spcPts val="1000"/>
              </a:spcAft>
              <a:defRPr sz="1600" b="1">
                <a:solidFill>
                  <a:srgbClr val="F1F5F9"/>
                </a:solidFill>
              </a:defRPr>
            </a:pPr>
            <a:r>
              <a:t>✔ Non-blocking Background I/O: </a:t>
            </a:r>
            <a:r>
              <a:rPr sz="1400">
                <a:solidFill>
                  <a:srgbClr val="94A3B8"/>
                </a:solidFill>
              </a:rPr>
              <a:t>When an alert triggers, the frame is copied lazily from GPU memory to CPU memory and written as a JPEG. The database write is offloaded to a background thread worker (AsyncIOWorker). This keeps the main GPU streaming loop running at full speed without dropping frames.</a:t>
            </a:r>
          </a:p>
          <a:p>
            <a:pPr>
              <a:spcAft>
                <a:spcPts val="1000"/>
              </a:spcAft>
              <a:defRPr sz="1600" b="1">
                <a:solidFill>
                  <a:srgbClr val="F1F5F9"/>
                </a:solidFill>
              </a:defRPr>
            </a:pPr>
            <a:r>
              <a:t>✔ Dynamic Camera Support: </a:t>
            </a:r>
            <a:r>
              <a:rPr sz="1400">
                <a:solidFill>
                  <a:srgbClr val="94A3B8"/>
                </a:solidFill>
              </a:rPr>
              <a:t>Reads the root YAML files (default.yaml, thresholds.yaml, and cameras.yaml) dynamically to set up camera feeds, unlike C++ which requires manual text file updates.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800" b="1">
                <a:solidFill>
                  <a:srgbClr val="F1F5F9"/>
                </a:solidFill>
                <a:latin typeface="Calibri"/>
              </a:defRPr>
            </a:pPr>
            <a:r>
              <a:t>Directory Segregation and Legacy Cleanup</a:t>
            </a:r>
          </a:p>
        </p:txBody>
      </p:sp>
      <p:sp>
        <p:nvSpPr>
          <p:cNvPr id="3" name="TextBox 2"/>
          <p:cNvSpPr txBox="1"/>
          <p:nvPr/>
        </p:nvSpPr>
        <p:spPr>
          <a:xfrm>
            <a:off x="685800" y="1645920"/>
            <a:ext cx="5120640" cy="4114800"/>
          </a:xfrm>
          <a:prstGeom prst="rect">
            <a:avLst/>
          </a:prstGeom>
          <a:noFill/>
        </p:spPr>
        <p:txBody>
          <a:bodyPr wrap="square">
            <a:spAutoFit/>
          </a:bodyPr>
          <a:lstStyle/>
          <a:p>
            <a:pPr>
              <a:spcAft>
                <a:spcPts val="1000"/>
              </a:spcAft>
              <a:defRPr sz="2200" b="1">
                <a:solidFill>
                  <a:srgbClr val="10B981"/>
                </a:solidFill>
                <a:latin typeface="Calibri"/>
              </a:defRPr>
            </a:pPr>
            <a:r>
              <a:t>New Clean Directory Layout</a:t>
            </a:r>
          </a:p>
          <a:p>
            <a:pPr>
              <a:defRPr sz="1300">
                <a:solidFill>
                  <a:srgbClr val="F1F5F9"/>
                </a:solidFill>
                <a:latin typeface="Courier New"/>
              </a:defRPr>
            </a:pPr>
            <a:r>
              <a:t>ha_meem_ai_surveillance/</a:t>
            </a:r>
            <a:br/>
            <a:r>
              <a:t>├── python_deepstream_pipeline/  &lt;-- Python Bindings (main.py)</a:t>
            </a:r>
            <a:br/>
            <a:r>
              <a:t>├── cpp_deepstream_pipeline/     &lt;-- C++ deepstream-app Configs</a:t>
            </a:r>
            <a:br/>
            <a:r>
              <a:t>├── apps/</a:t>
            </a:r>
            <a:br/>
            <a:r>
              <a:t>│   ├── alert_bot/               &lt;-- WhatsApp Selenium Bot</a:t>
            </a:r>
            <a:br/>
            <a:r>
              <a:t>│   ├── api_server/              &lt;-- FastAPI Log Event Stream</a:t>
            </a:r>
            <a:br/>
            <a:r>
              <a:t>│   └── dataset_tools/           &lt;-- Database Embeddings Compiler</a:t>
            </a:r>
            <a:br/>
            <a:r>
              <a:t>├── core/                        &lt;-- Shared Core Modules</a:t>
            </a:r>
            <a:br/>
            <a:r>
              <a:t>└── configs/                     &lt;-- default, thresholds, cameras.yaml</a:t>
            </a:r>
          </a:p>
        </p:txBody>
      </p:sp>
      <p:sp>
        <p:nvSpPr>
          <p:cNvPr id="4" name="TextBox 3"/>
          <p:cNvSpPr txBox="1"/>
          <p:nvPr/>
        </p:nvSpPr>
        <p:spPr>
          <a:xfrm>
            <a:off x="6217920" y="1645920"/>
            <a:ext cx="5120640" cy="4114800"/>
          </a:xfrm>
          <a:prstGeom prst="rect">
            <a:avLst/>
          </a:prstGeom>
          <a:noFill/>
        </p:spPr>
        <p:txBody>
          <a:bodyPr wrap="square">
            <a:spAutoFit/>
          </a:bodyPr>
          <a:lstStyle/>
          <a:p>
            <a:pPr>
              <a:spcAft>
                <a:spcPts val="1000"/>
              </a:spcAft>
              <a:defRPr sz="2200" b="1">
                <a:solidFill>
                  <a:srgbClr val="EF4444"/>
                </a:solidFill>
                <a:latin typeface="Calibri"/>
              </a:defRPr>
            </a:pPr>
            <a:r>
              <a:t>Legacy Modules Deleted</a:t>
            </a:r>
          </a:p>
          <a:p>
            <a:pPr>
              <a:spcAft>
                <a:spcPts val="800"/>
              </a:spcAft>
              <a:defRPr sz="1400">
                <a:solidFill>
                  <a:srgbClr val="94A3B8"/>
                </a:solidFill>
              </a:defRPr>
            </a:pPr>
            <a:r>
              <a:t>✗ apps/entry_pipeline/ (Old CPU Multi-Camera runner)</a:t>
            </a:r>
          </a:p>
          <a:p>
            <a:pPr>
              <a:spcAft>
                <a:spcPts val="800"/>
              </a:spcAft>
              <a:defRPr sz="1400">
                <a:solidFill>
                  <a:srgbClr val="94A3B8"/>
                </a:solidFill>
              </a:defRPr>
            </a:pPr>
            <a:r>
              <a:t>✗ core/camera/ (Legacy CPU Thread camera worker)</a:t>
            </a:r>
          </a:p>
          <a:p>
            <a:pPr>
              <a:spcAft>
                <a:spcPts val="800"/>
              </a:spcAft>
              <a:defRPr sz="1400">
                <a:solidFill>
                  <a:srgbClr val="94A3B8"/>
                </a:solidFill>
              </a:defRPr>
            </a:pPr>
            <a:r>
              <a:t>✗ core/tracking/ (Legacy Python ByteTracker)</a:t>
            </a:r>
          </a:p>
          <a:p>
            <a:pPr>
              <a:spcAft>
                <a:spcPts val="800"/>
              </a:spcAft>
              <a:defRPr sz="1400">
                <a:solidFill>
                  <a:srgbClr val="94A3B8"/>
                </a:solidFill>
              </a:defRPr>
            </a:pPr>
            <a:r>
              <a:t>✗ core/quality/ (Legacy Laplacian CPU blur checks)</a:t>
            </a:r>
          </a:p>
          <a:p>
            <a:pPr>
              <a:spcAft>
                <a:spcPts val="800"/>
              </a:spcAft>
              <a:defRPr sz="1400">
                <a:solidFill>
                  <a:srgbClr val="94A3B8"/>
                </a:solidFill>
              </a:defRPr>
            </a:pPr>
            <a:r>
              <a:t>✗ system_profiler_traditional.py &amp; performance_traditional.md</a:t>
            </a:r>
          </a:p>
          <a:p>
            <a:pPr>
              <a:defRPr sz="1200" i="1">
                <a:solidFill>
                  <a:srgbClr val="3B82F6"/>
                </a:solidFill>
              </a:defRPr>
            </a:pPr>
            <a:r>
              <a:t>Note: core/detection &amp; core/recognition are kept purely to support apps/dataset_tools so you can generate gallery embeddings when registering new employees.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800" b="1">
                <a:solidFill>
                  <a:srgbClr val="F1F5F9"/>
                </a:solidFill>
                <a:latin typeface="Calibri"/>
              </a:defRPr>
            </a:pPr>
            <a:r>
              <a:t>Decoupled Event-Driven Alerting Flow</a:t>
            </a:r>
          </a:p>
        </p:txBody>
      </p:sp>
      <p:sp>
        <p:nvSpPr>
          <p:cNvPr id="3" name="TextBox 2"/>
          <p:cNvSpPr txBox="1"/>
          <p:nvPr/>
        </p:nvSpPr>
        <p:spPr>
          <a:xfrm>
            <a:off x="685800" y="1645920"/>
            <a:ext cx="10817352" cy="4114800"/>
          </a:xfrm>
          <a:prstGeom prst="rect">
            <a:avLst/>
          </a:prstGeom>
          <a:noFill/>
        </p:spPr>
        <p:txBody>
          <a:bodyPr wrap="square">
            <a:spAutoFit/>
          </a:bodyPr>
          <a:lstStyle/>
          <a:p/>
          <a:p>
            <a:pPr>
              <a:spcAft>
                <a:spcPts val="1000"/>
              </a:spcAft>
              <a:defRPr sz="1600" b="1">
                <a:solidFill>
                  <a:srgbClr val="3B82F6"/>
                </a:solidFill>
              </a:defRPr>
            </a:pPr>
            <a:r>
              <a:t>➔ Step 1: Detection &amp; Matching (main.py): </a:t>
            </a:r>
            <a:r>
              <a:rPr sz="1400">
                <a:solidFill>
                  <a:srgbClr val="F1F5F9"/>
                </a:solidFill>
              </a:rPr>
              <a:t>GPU detects, tracks, and extracts embeddings. If a status change occurs, the data is pushed to a background thread.</a:t>
            </a:r>
          </a:p>
          <a:p>
            <a:pPr>
              <a:spcAft>
                <a:spcPts val="1000"/>
              </a:spcAft>
              <a:defRPr sz="1600" b="1">
                <a:solidFill>
                  <a:srgbClr val="3B82F6"/>
                </a:solidFill>
              </a:defRPr>
            </a:pPr>
            <a:r>
              <a:t>➔ Step 2: Log Writing (AsyncIOWorker): </a:t>
            </a:r>
            <a:r>
              <a:rPr sz="1400">
                <a:solidFill>
                  <a:srgbClr val="F1F5F9"/>
                </a:solidFill>
              </a:rPr>
              <a:t>The background thread writes the JSON event to logs/events.jsonl and saves the crop in snapshots/ (completely non-blocking).</a:t>
            </a:r>
          </a:p>
          <a:p>
            <a:pPr>
              <a:spcAft>
                <a:spcPts val="1000"/>
              </a:spcAft>
              <a:defRPr sz="1600" b="1">
                <a:solidFill>
                  <a:srgbClr val="3B82F6"/>
                </a:solidFill>
              </a:defRPr>
            </a:pPr>
            <a:r>
              <a:t>➔ Step 3: FastAPI Event Stream (api_server): </a:t>
            </a:r>
            <a:r>
              <a:rPr sz="1400">
                <a:solidFill>
                  <a:srgbClr val="F1F5F9"/>
                </a:solidFill>
              </a:rPr>
              <a:t>FastAPI tails logs/events.jsonl. It buffers events and exposes them via REST APIs and real-time Server-Sent Events (SSE).</a:t>
            </a:r>
          </a:p>
          <a:p>
            <a:pPr>
              <a:spcAft>
                <a:spcPts val="1000"/>
              </a:spcAft>
              <a:defRPr sz="1600" b="1">
                <a:solidFill>
                  <a:srgbClr val="3B82F6"/>
                </a:solidFill>
              </a:defRPr>
            </a:pPr>
            <a:r>
              <a:t>➔ Step 4: Automated Alerts (whatsapp_bot): </a:t>
            </a:r>
            <a:r>
              <a:rPr sz="1400">
                <a:solidFill>
                  <a:srgbClr val="F1F5F9"/>
                </a:solidFill>
              </a:rPr>
              <a:t>A Selenium-driven bot polls the FastAPI server and pushes text alerts and face crop snapshots directly to WhatsApp Web in a separate, isolated process.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lIns="0" tIns="0" rIns="0" bIns="0">
            <a:spAutoFit/>
          </a:bodyPr>
          <a:lstStyle/>
          <a:p>
            <a:pPr>
              <a:defRPr sz="3800" b="1">
                <a:solidFill>
                  <a:srgbClr val="F1F5F9"/>
                </a:solidFill>
                <a:latin typeface="Calibri"/>
              </a:defRPr>
            </a:pPr>
            <a:r>
              <a:t>Summary &amp; Next Steps</a:t>
            </a:r>
          </a:p>
        </p:txBody>
      </p:sp>
      <p:sp>
        <p:nvSpPr>
          <p:cNvPr id="3" name="TextBox 2"/>
          <p:cNvSpPr txBox="1"/>
          <p:nvPr/>
        </p:nvSpPr>
        <p:spPr>
          <a:xfrm>
            <a:off x="685800" y="1645920"/>
            <a:ext cx="10817352" cy="4114800"/>
          </a:xfrm>
          <a:prstGeom prst="rect">
            <a:avLst/>
          </a:prstGeom>
          <a:noFill/>
        </p:spPr>
        <p:txBody>
          <a:bodyPr wrap="square">
            <a:spAutoFit/>
          </a:bodyPr>
          <a:lstStyle/>
          <a:p>
            <a:pPr>
              <a:spcAft>
                <a:spcPts val="1400"/>
              </a:spcAft>
              <a:defRPr sz="1800" b="1">
                <a:solidFill>
                  <a:srgbClr val="10B981"/>
                </a:solidFill>
              </a:defRPr>
            </a:pPr>
            <a:r>
              <a:t>Key Takeaways for Management:</a:t>
            </a:r>
          </a:p>
          <a:p>
            <a:pPr>
              <a:spcAft>
                <a:spcPts val="1000"/>
              </a:spcAft>
              <a:defRPr sz="1600">
                <a:solidFill>
                  <a:srgbClr val="F1F5F9"/>
                </a:solidFill>
              </a:defRPr>
            </a:pPr>
            <a:r>
              <a:t>✔ 100% GPU Acceleration: By switching to DeepStream, CPU bottlenecks are resolved, allowing efficient multi-camera scaling.</a:t>
            </a:r>
          </a:p>
          <a:p>
            <a:pPr>
              <a:spcAft>
                <a:spcPts val="1000"/>
              </a:spcAft>
              <a:defRPr sz="1600">
                <a:solidFill>
                  <a:srgbClr val="F1F5F9"/>
                </a:solidFill>
              </a:defRPr>
            </a:pPr>
            <a:r>
              <a:t>✔ Production Ready: Option B (Python GStreamer bindings) integrates all FAISS gallery checks, consensus filtering, and logging.</a:t>
            </a:r>
          </a:p>
          <a:p>
            <a:pPr>
              <a:spcAft>
                <a:spcPts val="1000"/>
              </a:spcAft>
              <a:defRPr sz="1600">
                <a:solidFill>
                  <a:srgbClr val="F1F5F9"/>
                </a:solidFill>
              </a:defRPr>
            </a:pPr>
            <a:r>
              <a:t>✔ Decoupled &amp; Robust: If external notification services fail or lag, core surveillance is unaffected.</a:t>
            </a:r>
          </a:p>
          <a:p>
            <a:pPr>
              <a:spcAft>
                <a:spcPts val="1000"/>
              </a:spcAft>
              <a:defRPr sz="1600">
                <a:solidFill>
                  <a:srgbClr val="F1F5F9"/>
                </a:solidFill>
              </a:defRPr>
            </a:pPr>
            <a:r>
              <a:t>✔ Next Steps: We are ready to run testing directly inside the Docker container on our target GPU hardware.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