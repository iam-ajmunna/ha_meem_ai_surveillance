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Good morning/afternoon. Today I am going to walk you through our NVIDIA DeepStream hardware-accelerated surveillance pipeline. We have recently completed a total cleanup of our workspace, completely separating our Python GStreamer-bound pipeline and our C++ Native pipeline into 100% independent directories.</a:t>
            </a:r>
          </a:p>
          <a:p/>
          <a:p>
            <a:r>
              <a:t>This presentation will focus exclusively on how the frame data travels from the RTSP camera streams, through our neural network engines, matches identities against our database, and draws overlays using On-Screen Display (OSD).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Let's trace the journey of a single frame. The camera streams are ingested via RTSP. The GStreamer RTSP source elements route the frames to 'nvv4l2decoder', which handles the video decoding directly on the GPU hardware. The stream multiplexer then bundles the decoded frames from all active camera sources into a single memory batch.</a:t>
            </a:r>
          </a:p>
          <a:p/>
          <a:p>
            <a:r>
              <a:t>Next, our Primary Inference element runs the SCRFD face detector. Because GStreamer needs to convert model tensors into bounding box coordinates, we compile a custom C++ shared library parser. Once the face boxes are decoded, the NvDCF Tracker assigns tracking IDs. These tracked face crops are passed through the secondary engine, AdaFace, which outputs 512-dimensional vectors. Finally, the On-Screen Display (OSD) overlay element renders these labels onto the display window.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To prevent any code overlap or dependency issues, we have split the DeepStream implementation into two separate independent folders at the root level of our workspace.</a:t>
            </a:r>
          </a:p>
          <a:p/>
          <a:p>
            <a:r>
              <a:t>In 'python_deepstream_pipeline/', we have all the scripts, properties, GStreamer configs, and custom parser source files required to run the Python bindings. In 'cpp_deepstream_pipeline/', we have the duplicate configs and parser sources required to run the native C++ 'deepstream-app'. If we delete one folder, the other remains fully functional. There is zero directory coupling.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C++ native pipeline (Option A) is driven entirely by configuration files. We execute it using the pre-compiled 'deepstream-app' binary. The master configuration maps all our inputs and references sub-configuration files for inference.</a:t>
            </a:r>
          </a:p>
          <a:p/>
          <a:p>
            <a:r>
              <a:t>To handle our face models, the GStreamer elements load our custom-built libraries. The SCRFD bounding box parser is compiled into a shared object. The AdaFace recognizer custom parser loads the gallery database from a flat text file 'gallery_embeddings.txt' and handles matching calculations inside C++ natively.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Python pipeline (Option B) constructs the same GStreamer pipeline but wraps it inside a Python process. This allows us to leverage python-level libraries like NumPy and FAISS.</a:t>
            </a:r>
          </a:p>
          <a:p/>
          <a:p>
            <a:r>
              <a:t>We attach a 'pad probe' callback on the secondary inference Gst.Pad. Every time a batch is processed, GStreamer invokes our Python function. This function extracts the generated face embeddings and matches them against our binary FAISS file. We also apply our temporal consensus aggregator, meaning we collect face signatures across multiple frames before making a final decision, drastically improving matching accuracy.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A key detail of both pipelines is their performance optimization. By setting 'nvbuf-memory-type=0', we tell GStreamer to use NVIDIA Video Memory (NVMM).</a:t>
            </a:r>
          </a:p>
          <a:p/>
          <a:p>
            <a:r>
              <a:t>Because of this, the video frames stay entirely inside the GPU VRAM as they are decoded, scaled, and analyzed. The only things passed to the CPU are lightweight metadata—such as bounding box coordinates and the 512-dimension embedding vectors. The heavy video frame matrix is never copied to the CPU RAM, except when we lazily copy a single snapshot frame during an alert trigger. This ensures maximum throughput.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To summarize our engine configurations, the multiplexer is tuned to receive three active camera streams. For efficiency, the primary detector (SCRFD) is batch-configured to process exactly 3 frames in a single pass. The secondary classifier (AdaFace) operates on a batch size of 16, allowing it to handle situations where multiple faces are detected across the streams simultaneously without bottlenecking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Finally, here are the step-by-step commands to run the pipelines inside our DeepStream Docker container. Since the directories are completely separated, you compile the C++ parsers within their respective directories. For Python, you compile the custom parsers in '/app/python_deepstream_pipeline/custom_parser/' and launch using 'python3'. For C++, you compile the custom parsers in '/app/cpp_deepstream_pipeline/custom_parser/' and launch the compiled binary using 'deepstream-app'. Both are fully independent and operational.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After the DeepStream pipeline finishes running, the downstream flow begins. The pipeline saves face snapshot files and logs events locally. Our FastAPI server acts as the central data hub, tailing the log file and exposing event history via API. Finally, the Selenium-based WhatsApp Bot polls this API and automates WhatsApp Web to send immediate notifications. Because these services run asynchronously, they do not impact the high-performance video processing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32720" cy="1828800"/>
          </a:xfrm>
          <a:prstGeom prst="rect">
            <a:avLst/>
          </a:prstGeom>
          <a:noFill/>
        </p:spPr>
        <p:txBody>
          <a:bodyPr wrap="square">
            <a:spAutoFit/>
          </a:bodyPr>
          <a:lstStyle/>
          <a:p>
            <a:pPr>
              <a:defRPr sz="4000" b="1">
                <a:solidFill>
                  <a:srgbClr val="10B981"/>
                </a:solidFill>
                <a:latin typeface="Calibri"/>
              </a:defRPr>
            </a:pPr>
            <a:r>
              <a:t>NVIDIA DEEPSTREAM SURVEILLANCE PIPELINE</a:t>
            </a:r>
          </a:p>
          <a:p>
            <a:pPr>
              <a:defRPr sz="2600">
                <a:solidFill>
                  <a:srgbClr val="F1F5F9"/>
                </a:solidFill>
                <a:latin typeface="Calibri"/>
              </a:defRPr>
            </a:pPr>
            <a:r>
              <a:t>Restructured Isolated Python &amp; C++ Architectures</a:t>
            </a:r>
          </a:p>
        </p:txBody>
      </p:sp>
      <p:sp>
        <p:nvSpPr>
          <p:cNvPr id="3" name="TextBox 2"/>
          <p:cNvSpPr txBox="1"/>
          <p:nvPr/>
        </p:nvSpPr>
        <p:spPr>
          <a:xfrm>
            <a:off x="914400" y="4114800"/>
            <a:ext cx="10332720" cy="1371600"/>
          </a:xfrm>
          <a:prstGeom prst="rect">
            <a:avLst/>
          </a:prstGeom>
          <a:noFill/>
        </p:spPr>
        <p:txBody>
          <a:bodyPr wrap="none">
            <a:spAutoFit/>
          </a:bodyPr>
          <a:lstStyle/>
          <a:p>
            <a:pPr>
              <a:defRPr sz="1800" b="1">
                <a:solidFill>
                  <a:srgbClr val="3B82F6"/>
                </a:solidFill>
                <a:latin typeface="Calibri"/>
              </a:defRPr>
            </a:pPr>
            <a:r>
              <a:t>Ha-Meem Group AI Surveillance Engineering</a:t>
            </a:r>
          </a:p>
          <a:p>
            <a:pPr>
              <a:defRPr sz="1400">
                <a:solidFill>
                  <a:srgbClr val="94A3B8"/>
                </a:solidFill>
                <a:latin typeface="Calibri"/>
              </a:defRPr>
            </a:pPr>
            <a:r>
              <a:t>Technical Walkthrough: RTSP Ingestion ➔ Detection ➔ Tracking ➔ Recognition ➔ OSD Overlay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600" b="1">
                <a:solidFill>
                  <a:srgbClr val="F1F5F9"/>
                </a:solidFill>
                <a:latin typeface="Calibri"/>
              </a:defRPr>
            </a:pPr>
            <a:r>
              <a:t>DeepStream Pipeline: RTSP Ingestion to OSD Rendering</a:t>
            </a:r>
          </a:p>
        </p:txBody>
      </p:sp>
      <p:sp>
        <p:nvSpPr>
          <p:cNvPr id="3" name="TextBox 2"/>
          <p:cNvSpPr txBox="1"/>
          <p:nvPr/>
        </p:nvSpPr>
        <p:spPr>
          <a:xfrm>
            <a:off x="685800" y="1463040"/>
            <a:ext cx="10817352" cy="4572000"/>
          </a:xfrm>
          <a:prstGeom prst="rect">
            <a:avLst/>
          </a:prstGeom>
          <a:noFill/>
        </p:spPr>
        <p:txBody>
          <a:bodyPr wrap="square">
            <a:spAutoFit/>
          </a:bodyPr>
          <a:lstStyle/>
          <a:p/>
          <a:p>
            <a:pPr>
              <a:spcAft>
                <a:spcPts val="600"/>
              </a:spcAft>
              <a:defRPr sz="1500" b="1">
                <a:solidFill>
                  <a:srgbClr val="3B82F6"/>
                </a:solidFill>
              </a:defRPr>
            </a:pPr>
            <a:r>
              <a:t>➔ 1. Stream Ingestion (rtspsrc ➔ nvv4l2decoder): </a:t>
            </a:r>
            <a:r>
              <a:rPr sz="1300">
                <a:solidFill>
                  <a:srgbClr val="F1F5F9"/>
                </a:solidFill>
              </a:rPr>
              <a:t>H.264 camera feeds are captured and decoded natively on the GPU's hardware decoder.</a:t>
            </a:r>
          </a:p>
          <a:p>
            <a:pPr>
              <a:spcAft>
                <a:spcPts val="600"/>
              </a:spcAft>
              <a:defRPr sz="1500" b="1">
                <a:solidFill>
                  <a:srgbClr val="3B82F6"/>
                </a:solidFill>
              </a:defRPr>
            </a:pPr>
            <a:r>
              <a:t>➔ 2. Stream Multiplexing (nvstreammux): </a:t>
            </a:r>
            <a:r>
              <a:rPr sz="1300">
                <a:solidFill>
                  <a:srgbClr val="F1F5F9"/>
                </a:solidFill>
              </a:rPr>
              <a:t>Frames from multiple RTSP streams are batch-assembled into a single composite memory buffer.</a:t>
            </a:r>
          </a:p>
          <a:p>
            <a:pPr>
              <a:spcAft>
                <a:spcPts val="600"/>
              </a:spcAft>
              <a:defRPr sz="1500" b="1">
                <a:solidFill>
                  <a:srgbClr val="3B82F6"/>
                </a:solidFill>
              </a:defRPr>
            </a:pPr>
            <a:r>
              <a:t>➔ 3. Primary Inference: Face Detection (nvinfer - SCRFD): </a:t>
            </a:r>
            <a:r>
              <a:rPr sz="1300">
                <a:solidFill>
                  <a:srgbClr val="F1F5F9"/>
                </a:solidFill>
              </a:rPr>
              <a:t>Hardware-accelerated face detection scans the batch and extracts raw coordinates and landmarks.</a:t>
            </a:r>
          </a:p>
          <a:p>
            <a:pPr>
              <a:spcAft>
                <a:spcPts val="600"/>
              </a:spcAft>
              <a:defRPr sz="1500" b="1">
                <a:solidFill>
                  <a:srgbClr val="3B82F6"/>
                </a:solidFill>
              </a:defRPr>
            </a:pPr>
            <a:r>
              <a:t>➔ 4. Bounding Box Decoding (libnvdsinfer_custom_impl_scrfd.so): </a:t>
            </a:r>
            <a:r>
              <a:rPr sz="1300">
                <a:solidFill>
                  <a:srgbClr val="F1F5F9"/>
                </a:solidFill>
              </a:rPr>
              <a:t>A custom compiled C++ parser decodes the SCRFD output tensors into bounding box coordinates.</a:t>
            </a:r>
          </a:p>
          <a:p>
            <a:pPr>
              <a:spcAft>
                <a:spcPts val="600"/>
              </a:spcAft>
              <a:defRPr sz="1500" b="1">
                <a:solidFill>
                  <a:srgbClr val="3B82F6"/>
                </a:solidFill>
              </a:defRPr>
            </a:pPr>
            <a:r>
              <a:t>➔ 5. Object Tracking (nvtracker - NvDCF): </a:t>
            </a:r>
            <a:r>
              <a:rPr sz="1300">
                <a:solidFill>
                  <a:srgbClr val="F1F5F9"/>
                </a:solidFill>
              </a:rPr>
              <a:t>NVIDIA's DCF tracker links face boxes across frames, assigning persistent 'Track IDs' to each person.</a:t>
            </a:r>
          </a:p>
          <a:p>
            <a:pPr>
              <a:spcAft>
                <a:spcPts val="600"/>
              </a:spcAft>
              <a:defRPr sz="1500" b="1">
                <a:solidFill>
                  <a:srgbClr val="3B82F6"/>
                </a:solidFill>
              </a:defRPr>
            </a:pPr>
            <a:r>
              <a:t>➔ 6. Secondary Inference: Embedding (nvinfer - AdaFace): </a:t>
            </a:r>
            <a:r>
              <a:rPr sz="1300">
                <a:solidFill>
                  <a:srgbClr val="F1F5F9"/>
                </a:solidFill>
              </a:rPr>
              <a:t>Passes tracked face crops through AdaFace to extract 512-dimension vector representations.</a:t>
            </a:r>
          </a:p>
          <a:p>
            <a:pPr>
              <a:spcAft>
                <a:spcPts val="600"/>
              </a:spcAft>
              <a:defRPr sz="1500" b="1">
                <a:solidFill>
                  <a:srgbClr val="3B82F6"/>
                </a:solidFill>
              </a:defRPr>
            </a:pPr>
            <a:r>
              <a:t>➔ 7. Overlays &amp; Rendering (nvdsosd): </a:t>
            </a:r>
            <a:r>
              <a:rPr sz="1300">
                <a:solidFill>
                  <a:srgbClr val="F1F5F9"/>
                </a:solidFill>
              </a:rPr>
              <a:t>Labels recognized names/known statuses (with green boxes) or UNKNOWN tags (with red boxes) onto the video frame.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600" b="1">
                <a:solidFill>
                  <a:srgbClr val="F1F5F9"/>
                </a:solidFill>
                <a:latin typeface="Calibri"/>
              </a:defRPr>
            </a:pPr>
            <a:r>
              <a:t>Isolated Folders: Complete Segregation of Structures</a:t>
            </a:r>
          </a:p>
        </p:txBody>
      </p:sp>
      <p:sp>
        <p:nvSpPr>
          <p:cNvPr id="3" name="TextBox 2"/>
          <p:cNvSpPr txBox="1"/>
          <p:nvPr/>
        </p:nvSpPr>
        <p:spPr>
          <a:xfrm>
            <a:off x="685800" y="1645920"/>
            <a:ext cx="5120640" cy="4114800"/>
          </a:xfrm>
          <a:prstGeom prst="rect">
            <a:avLst/>
          </a:prstGeom>
          <a:noFill/>
        </p:spPr>
        <p:txBody>
          <a:bodyPr wrap="square">
            <a:spAutoFit/>
          </a:bodyPr>
          <a:lstStyle/>
          <a:p>
            <a:pPr>
              <a:spcAft>
                <a:spcPts val="1000"/>
              </a:spcAft>
              <a:defRPr sz="2200" b="1">
                <a:solidFill>
                  <a:srgbClr val="10B981"/>
                </a:solidFill>
                <a:latin typeface="Calibri"/>
              </a:defRPr>
            </a:pPr>
            <a:r>
              <a:t>python_deepstream_pipeline/</a:t>
            </a:r>
          </a:p>
          <a:p>
            <a:pPr>
              <a:defRPr sz="1300">
                <a:solidFill>
                  <a:srgbClr val="F1F5F9"/>
                </a:solidFill>
                <a:latin typeface="Courier New"/>
              </a:defRPr>
            </a:pPr>
            <a:r>
              <a:t>├── main.py                     &lt;-- GStreamer Orchestrator</a:t>
            </a:r>
            <a:br/>
            <a:r>
              <a:t>├── README.md                   &lt;-- Setup &amp; Run documentation</a:t>
            </a:r>
            <a:br/>
            <a:r>
              <a:t>├── configs/                    &lt;-- Local Config Copies</a:t>
            </a:r>
            <a:br/>
            <a:r>
              <a:t>│   ├── config_infer_primary.txt</a:t>
            </a:r>
            <a:br/>
            <a:r>
              <a:t>│   ├── config_infer_secondary.txt</a:t>
            </a:r>
            <a:br/>
            <a:r>
              <a:t>│   └── config_tracker_NvDCF_perf.yml</a:t>
            </a:r>
            <a:br/>
            <a:r>
              <a:t>└── custom_parser/              &lt;-- Local Parser Source</a:t>
            </a:r>
            <a:br/>
            <a:r>
              <a:t>    ├── nvdsinfer_custom_parser_scrfd.cpp</a:t>
            </a:r>
            <a:br/>
            <a:r>
              <a:t>    └── nvdsinfer_custom_parser_adaface.cpp</a:t>
            </a:r>
          </a:p>
        </p:txBody>
      </p:sp>
      <p:sp>
        <p:nvSpPr>
          <p:cNvPr id="4" name="TextBox 3"/>
          <p:cNvSpPr txBox="1"/>
          <p:nvPr/>
        </p:nvSpPr>
        <p:spPr>
          <a:xfrm>
            <a:off x="6217920" y="1645920"/>
            <a:ext cx="5120640" cy="4114800"/>
          </a:xfrm>
          <a:prstGeom prst="rect">
            <a:avLst/>
          </a:prstGeom>
          <a:noFill/>
        </p:spPr>
        <p:txBody>
          <a:bodyPr wrap="square">
            <a:spAutoFit/>
          </a:bodyPr>
          <a:lstStyle/>
          <a:p>
            <a:pPr>
              <a:spcAft>
                <a:spcPts val="1000"/>
              </a:spcAft>
              <a:defRPr sz="2200" b="1">
                <a:solidFill>
                  <a:srgbClr val="3B82F6"/>
                </a:solidFill>
                <a:latin typeface="Calibri"/>
              </a:defRPr>
            </a:pPr>
            <a:r>
              <a:t>cpp_deepstream_pipeline/</a:t>
            </a:r>
          </a:p>
          <a:p>
            <a:pPr>
              <a:defRPr sz="1300">
                <a:solidFill>
                  <a:srgbClr val="F1F5F9"/>
                </a:solidFill>
                <a:latin typeface="Courier New"/>
              </a:defRPr>
            </a:pPr>
            <a:r>
              <a:t>├── README.md                   &lt;-- C++ Compile &amp; Setup guide</a:t>
            </a:r>
            <a:br/>
            <a:r>
              <a:t>├── configs/                    &lt;-- C++ native configuration files</a:t>
            </a:r>
            <a:br/>
            <a:r>
              <a:t>│   ├── ha_meem_master_config.txt</a:t>
            </a:r>
            <a:br/>
            <a:r>
              <a:t>│   ├── config_infer_primary.txt</a:t>
            </a:r>
            <a:br/>
            <a:r>
              <a:t>│   └── config_infer_secondary.txt</a:t>
            </a:r>
            <a:br/>
            <a:r>
              <a:t>└── custom_parser/              &lt;-- C++ custom parser files</a:t>
            </a:r>
            <a:br/>
            <a:r>
              <a:t>    ├── nvdsinfer_custom_parser_scrfd.cpp</a:t>
            </a:r>
            <a:br/>
            <a:r>
              <a:t>    └── nvdsinfer_custom_parser_adaface.cpp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600" b="1">
                <a:solidFill>
                  <a:srgbClr val="F1F5F9"/>
                </a:solidFill>
                <a:latin typeface="Calibri"/>
              </a:defRPr>
            </a:pPr>
            <a:r>
              <a:t>C++ Native Pipeline: Configuration and Operation</a:t>
            </a:r>
          </a:p>
        </p:txBody>
      </p:sp>
      <p:sp>
        <p:nvSpPr>
          <p:cNvPr id="3" name="TextBox 2"/>
          <p:cNvSpPr txBox="1"/>
          <p:nvPr/>
        </p:nvSpPr>
        <p:spPr>
          <a:xfrm>
            <a:off x="685800" y="1645920"/>
            <a:ext cx="10817352" cy="4114800"/>
          </a:xfrm>
          <a:prstGeom prst="rect">
            <a:avLst/>
          </a:prstGeom>
          <a:noFill/>
        </p:spPr>
        <p:txBody>
          <a:bodyPr wrap="square">
            <a:spAutoFit/>
          </a:bodyPr>
          <a:lstStyle/>
          <a:p/>
          <a:p>
            <a:pPr>
              <a:spcAft>
                <a:spcPts val="1000"/>
              </a:spcAft>
              <a:defRPr sz="1600" b="1">
                <a:solidFill>
                  <a:srgbClr val="3B82F6"/>
                </a:solidFill>
              </a:defRPr>
            </a:pPr>
            <a:r>
              <a:t>✔ Binary-Driven Execution: </a:t>
            </a:r>
            <a:r>
              <a:rPr sz="1400">
                <a:solidFill>
                  <a:srgbClr val="F1F5F9"/>
                </a:solidFill>
              </a:rPr>
              <a:t>The C++ pipeline is executed by feeding the config files directly into the compiled native deepstream-app binary. No Python interpreter is used.</a:t>
            </a:r>
          </a:p>
          <a:p>
            <a:pPr>
              <a:spcAft>
                <a:spcPts val="1000"/>
              </a:spcAft>
              <a:defRPr sz="1600" b="1">
                <a:solidFill>
                  <a:srgbClr val="3B82F6"/>
                </a:solidFill>
              </a:defRPr>
            </a:pPr>
            <a:r>
              <a:t>✔ Config Parsing (`ha_meem_master_config.txt`): </a:t>
            </a:r>
            <a:r>
              <a:rPr sz="1400">
                <a:solidFill>
                  <a:srgbClr val="F1F5F9"/>
                </a:solidFill>
              </a:rPr>
              <a:t>Serves as the main blueprint, declaring sources, tiled display sizes, tracker files, and sub-infer properties.</a:t>
            </a:r>
          </a:p>
          <a:p>
            <a:pPr>
              <a:spcAft>
                <a:spcPts val="1000"/>
              </a:spcAft>
              <a:defRPr sz="1600" b="1">
                <a:solidFill>
                  <a:srgbClr val="3B82F6"/>
                </a:solidFill>
              </a:defRPr>
            </a:pPr>
            <a:r>
              <a:t>✔ C++ Custom Bounding Box Parser: </a:t>
            </a:r>
            <a:r>
              <a:rPr sz="1400">
                <a:solidFill>
                  <a:srgbClr val="F1F5F9"/>
                </a:solidFill>
              </a:rPr>
              <a:t>SCRFD outputs anchors across three strides. We compile nvdsinfer_custom_parser_scrfd.cpp into libnvdsinfer_custom_impl_scrfd.so to decode the spatial bounding boxes on-the-fly.</a:t>
            </a:r>
          </a:p>
          <a:p>
            <a:pPr>
              <a:spcAft>
                <a:spcPts val="1000"/>
              </a:spcAft>
              <a:defRPr sz="1600" b="1">
                <a:solidFill>
                  <a:srgbClr val="3B82F6"/>
                </a:solidFill>
              </a:defRPr>
            </a:pPr>
            <a:r>
              <a:t>✔ Compiled Embeddings Recognition: </a:t>
            </a:r>
            <a:r>
              <a:rPr sz="1400">
                <a:solidFill>
                  <a:srgbClr val="F1F5F9"/>
                </a:solidFill>
              </a:rPr>
              <a:t>The custom C++ parser (nvdsinfer_custom_parser_adaface.cpp) reads gallery_embeddings.txt into memory at runtime and maps vectors to identities natively inside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600" b="1">
                <a:solidFill>
                  <a:srgbClr val="F1F5F9"/>
                </a:solidFill>
                <a:latin typeface="Calibri"/>
              </a:defRPr>
            </a:pPr>
            <a:r>
              <a:t>Python Pipeline: Custom Control &amp; FAISS Integration</a:t>
            </a:r>
          </a:p>
        </p:txBody>
      </p:sp>
      <p:sp>
        <p:nvSpPr>
          <p:cNvPr id="3" name="TextBox 2"/>
          <p:cNvSpPr txBox="1"/>
          <p:nvPr/>
        </p:nvSpPr>
        <p:spPr>
          <a:xfrm>
            <a:off x="685800" y="1645920"/>
            <a:ext cx="10817352" cy="4114800"/>
          </a:xfrm>
          <a:prstGeom prst="rect">
            <a:avLst/>
          </a:prstGeom>
          <a:noFill/>
        </p:spPr>
        <p:txBody>
          <a:bodyPr wrap="square">
            <a:spAutoFit/>
          </a:bodyPr>
          <a:lstStyle/>
          <a:p/>
          <a:p>
            <a:pPr>
              <a:spcAft>
                <a:spcPts val="1000"/>
              </a:spcAft>
              <a:defRPr sz="1600" b="1">
                <a:solidFill>
                  <a:srgbClr val="10B981"/>
                </a:solidFill>
              </a:defRPr>
            </a:pPr>
            <a:r>
              <a:t>✔ Python GStreamer Bindings: </a:t>
            </a:r>
            <a:r>
              <a:rPr sz="1400">
                <a:solidFill>
                  <a:srgbClr val="F1F5F9"/>
                </a:solidFill>
              </a:rPr>
              <a:t>Elements are initialized programmatically in Python using GObject bindings (e.g. Gst.ElementFactory.make) and assembled into a pipeline.</a:t>
            </a:r>
          </a:p>
          <a:p>
            <a:pPr>
              <a:spcAft>
                <a:spcPts val="1000"/>
              </a:spcAft>
              <a:defRPr sz="1600" b="1">
                <a:solidFill>
                  <a:srgbClr val="10B981"/>
                </a:solidFill>
              </a:defRPr>
            </a:pPr>
            <a:r>
              <a:t>✔ Metadata Pad Probe Callbacks: </a:t>
            </a:r>
            <a:r>
              <a:rPr sz="1400">
                <a:solidFill>
                  <a:srgbClr val="F1F5F9"/>
                </a:solidFill>
              </a:rPr>
              <a:t>Attaches a Python callback probe (sgie_src_pad_probe) to the source pad of the secondary GIE to capture tensor data as it flows through.</a:t>
            </a:r>
          </a:p>
          <a:p>
            <a:pPr>
              <a:spcAft>
                <a:spcPts val="1000"/>
              </a:spcAft>
              <a:defRPr sz="1600" b="1">
                <a:solidFill>
                  <a:srgbClr val="10B981"/>
                </a:solidFill>
              </a:defRPr>
            </a:pPr>
            <a:r>
              <a:t>✔ FAISS Database Integration: </a:t>
            </a:r>
            <a:r>
              <a:rPr sz="1400">
                <a:solidFill>
                  <a:srgbClr val="F1F5F9"/>
                </a:solidFill>
              </a:rPr>
              <a:t>Embeddings are extracted from the buffer metadata and matched against a binary FAISS database (gallery_embeddings_80px_faiss.npy) using cosine similarity.</a:t>
            </a:r>
          </a:p>
          <a:p>
            <a:pPr>
              <a:spcAft>
                <a:spcPts val="1000"/>
              </a:spcAft>
              <a:defRPr sz="1600" b="1">
                <a:solidFill>
                  <a:srgbClr val="10B981"/>
                </a:solidFill>
              </a:defRPr>
            </a:pPr>
            <a:r>
              <a:t>✔ Temporal Consensus Filters: </a:t>
            </a:r>
            <a:r>
              <a:rPr sz="1400">
                <a:solidFill>
                  <a:srgbClr val="F1F5F9"/>
                </a:solidFill>
              </a:rPr>
              <a:t>Maintains an embedding history window for each tracked face. This ensures that transient noise or lighting shifts do not trigger incorrect matching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600" b="1">
                <a:solidFill>
                  <a:srgbClr val="F1F5F9"/>
                </a:solidFill>
                <a:latin typeface="Calibri"/>
              </a:defRPr>
            </a:pPr>
            <a:r>
              <a:t>Pipeline Optimization: GPU Zero-Copy Memory Flow</a:t>
            </a:r>
          </a:p>
        </p:txBody>
      </p:sp>
      <p:sp>
        <p:nvSpPr>
          <p:cNvPr id="3" name="TextBox 2"/>
          <p:cNvSpPr txBox="1"/>
          <p:nvPr/>
        </p:nvSpPr>
        <p:spPr>
          <a:xfrm>
            <a:off x="685800" y="1645920"/>
            <a:ext cx="10817352" cy="4114800"/>
          </a:xfrm>
          <a:prstGeom prst="rect">
            <a:avLst/>
          </a:prstGeom>
          <a:noFill/>
        </p:spPr>
        <p:txBody>
          <a:bodyPr wrap="square">
            <a:spAutoFit/>
          </a:bodyPr>
          <a:lstStyle/>
          <a:p/>
          <a:p>
            <a:pPr>
              <a:spcAft>
                <a:spcPts val="1000"/>
              </a:spcAft>
              <a:defRPr sz="1600" b="1">
                <a:solidFill>
                  <a:srgbClr val="3B82F6"/>
                </a:solidFill>
              </a:defRPr>
            </a:pPr>
            <a:r>
              <a:t>✦ NVIDIA Video Memory Management (NVMM): </a:t>
            </a:r>
            <a:r>
              <a:rPr sz="1400">
                <a:solidFill>
                  <a:srgbClr val="F1F5F9"/>
                </a:solidFill>
              </a:rPr>
              <a:t>The multiplexer and inference elements are configured to use cuda-device buffers (nvbuf-memory-type=0). The video frames stay on the GPU memory during all pipeline operations.</a:t>
            </a:r>
          </a:p>
          <a:p>
            <a:pPr>
              <a:spcAft>
                <a:spcPts val="1000"/>
              </a:spcAft>
              <a:defRPr sz="1600" b="1">
                <a:solidFill>
                  <a:srgbClr val="3B82F6"/>
                </a:solidFill>
              </a:defRPr>
            </a:pPr>
            <a:r>
              <a:t>✦ No Host CPU Memory Copies: </a:t>
            </a:r>
            <a:r>
              <a:rPr sz="1400">
                <a:solidFill>
                  <a:srgbClr val="F1F5F9"/>
                </a:solidFill>
              </a:rPr>
              <a:t>Frame matrices are never copied into the system's host RAM (CPU memory) during ingestion, decoding, face detection, tracking, or OSD overlay rendering.</a:t>
            </a:r>
          </a:p>
          <a:p>
            <a:pPr>
              <a:spcAft>
                <a:spcPts val="1000"/>
              </a:spcAft>
              <a:defRPr sz="1600" b="1">
                <a:solidFill>
                  <a:srgbClr val="3B82F6"/>
                </a:solidFill>
              </a:defRPr>
            </a:pPr>
            <a:r>
              <a:t>✦ Metadata-Only Tensor Parsing: </a:t>
            </a:r>
            <a:r>
              <a:rPr sz="1400">
                <a:solidFill>
                  <a:srgbClr val="F1F5F9"/>
                </a:solidFill>
              </a:rPr>
              <a:t>The custom parsers only copy lightweight tensor data (like bounding boxes and 512-dimension float arrays) to system memory, avoiding large memory copies.</a:t>
            </a:r>
          </a:p>
          <a:p>
            <a:pPr>
              <a:spcAft>
                <a:spcPts val="1000"/>
              </a:spcAft>
              <a:defRPr sz="1600" b="1">
                <a:solidFill>
                  <a:srgbClr val="3B82F6"/>
                </a:solidFill>
              </a:defRPr>
            </a:pPr>
            <a:r>
              <a:t>✦ Lazy Frame Extraction: </a:t>
            </a:r>
            <a:r>
              <a:rPr sz="1400">
                <a:solidFill>
                  <a:srgbClr val="F1F5F9"/>
                </a:solidFill>
              </a:rPr>
              <a:t>If a recognized status changes or an alert is triggered, GStreamer performs a lazy-copy of that specific frame buffer to the CPU for saving snapshots, keeping the rest of the stream on the GPU.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600" b="1">
                <a:solidFill>
                  <a:srgbClr val="F1F5F9"/>
                </a:solidFill>
                <a:latin typeface="Calibri"/>
              </a:defRPr>
            </a:pPr>
            <a:r>
              <a:t>Summary of Engine Configurations</a:t>
            </a:r>
          </a:p>
        </p:txBody>
      </p:sp>
      <p:sp>
        <p:nvSpPr>
          <p:cNvPr id="3" name="TextBox 2"/>
          <p:cNvSpPr txBox="1"/>
          <p:nvPr/>
        </p:nvSpPr>
        <p:spPr>
          <a:xfrm>
            <a:off x="685800" y="1645920"/>
            <a:ext cx="10817352" cy="4114800"/>
          </a:xfrm>
          <a:prstGeom prst="rect">
            <a:avLst/>
          </a:prstGeom>
          <a:noFill/>
        </p:spPr>
        <p:txBody>
          <a:bodyPr wrap="square">
            <a:spAutoFit/>
          </a:bodyPr>
          <a:lstStyle/>
          <a:p/>
          <a:p>
            <a:pPr>
              <a:spcAft>
                <a:spcPts val="1000"/>
              </a:spcAft>
              <a:defRPr sz="1600" b="1">
                <a:solidFill>
                  <a:srgbClr val="10B981"/>
                </a:solidFill>
              </a:defRPr>
            </a:pPr>
            <a:r>
              <a:t>✔ Multi-Stream Multiplexing: </a:t>
            </a:r>
            <a:r>
              <a:rPr sz="1400">
                <a:solidFill>
                  <a:srgbClr val="F1F5F9"/>
                </a:solidFill>
              </a:rPr>
              <a:t>Configured to multiplex three cameras in sync with a live-source push timeout of 40ms, preventing lag.</a:t>
            </a:r>
          </a:p>
          <a:p>
            <a:pPr>
              <a:spcAft>
                <a:spcPts val="1000"/>
              </a:spcAft>
              <a:defRPr sz="1600" b="1">
                <a:solidFill>
                  <a:srgbClr val="10B981"/>
                </a:solidFill>
              </a:defRPr>
            </a:pPr>
            <a:r>
              <a:t>✔ Primary Detector Batch Size: </a:t>
            </a:r>
            <a:r>
              <a:rPr sz="1400">
                <a:solidFill>
                  <a:srgbClr val="F1F5F9"/>
                </a:solidFill>
              </a:rPr>
              <a:t>Face detector (SCRFD) is configured with batch-size=3. TensorRT processes three frames (one from each camera) concurrently in a single GPU inference pass.</a:t>
            </a:r>
          </a:p>
          <a:p>
            <a:pPr>
              <a:spcAft>
                <a:spcPts val="1000"/>
              </a:spcAft>
              <a:defRPr sz="1600" b="1">
                <a:solidFill>
                  <a:srgbClr val="10B981"/>
                </a:solidFill>
              </a:defRPr>
            </a:pPr>
            <a:r>
              <a:t>✔ Secondary Classifier Batch Size: </a:t>
            </a:r>
            <a:r>
              <a:rPr sz="1400">
                <a:solidFill>
                  <a:srgbClr val="F1F5F9"/>
                </a:solidFill>
              </a:rPr>
              <a:t>The AdaFace embedding model is configured with batch-size=16. This allows it to process up to 16 face chips from the three streams simultaneously in one step.</a:t>
            </a:r>
          </a:p>
          <a:p>
            <a:pPr>
              <a:spcAft>
                <a:spcPts val="1000"/>
              </a:spcAft>
              <a:defRPr sz="1600" b="1">
                <a:solidFill>
                  <a:srgbClr val="10B981"/>
                </a:solidFill>
              </a:defRPr>
            </a:pPr>
            <a:r>
              <a:t>✔ Static Model Input Profiles: </a:t>
            </a:r>
            <a:r>
              <a:rPr sz="1400">
                <a:solidFill>
                  <a:srgbClr val="F1F5F9"/>
                </a:solidFill>
              </a:rPr>
              <a:t>The SCRFD ONNX input was compiled to static 640x640 dimensions. This fixes the dynamic TensorRT engine building failures and ensures stable GPU compilation.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600" b="1">
                <a:solidFill>
                  <a:srgbClr val="F1F5F9"/>
                </a:solidFill>
                <a:latin typeface="Calibri"/>
              </a:defRPr>
            </a:pPr>
            <a:r>
              <a:t>Independent Pipeline Compile &amp; Run Commands</a:t>
            </a:r>
          </a:p>
        </p:txBody>
      </p:sp>
      <p:sp>
        <p:nvSpPr>
          <p:cNvPr id="3" name="TextBox 2"/>
          <p:cNvSpPr txBox="1"/>
          <p:nvPr/>
        </p:nvSpPr>
        <p:spPr>
          <a:xfrm>
            <a:off x="685800" y="1645920"/>
            <a:ext cx="5120640" cy="4114800"/>
          </a:xfrm>
          <a:prstGeom prst="rect">
            <a:avLst/>
          </a:prstGeom>
          <a:noFill/>
        </p:spPr>
        <p:txBody>
          <a:bodyPr wrap="square">
            <a:spAutoFit/>
          </a:bodyPr>
          <a:lstStyle/>
          <a:p>
            <a:pPr>
              <a:spcAft>
                <a:spcPts val="800"/>
              </a:spcAft>
              <a:defRPr sz="2000" b="1">
                <a:solidFill>
                  <a:srgbClr val="10B981"/>
                </a:solidFill>
                <a:latin typeface="Calibri"/>
              </a:defRPr>
            </a:pPr>
            <a:r>
              <a:t>Python DeepStream Execution</a:t>
            </a:r>
          </a:p>
          <a:p>
            <a:pPr>
              <a:defRPr sz="1000">
                <a:solidFill>
                  <a:srgbClr val="F1F5F9"/>
                </a:solidFill>
                <a:latin typeface="Courier New"/>
              </a:defRPr>
            </a:pPr>
            <a:r>
              <a:t># 1. Compile Parsers in Python dir</a:t>
            </a:r>
            <a:br/>
            <a:r>
              <a:t>cd /app/python_deepstream_pipeline/custom_parser</a:t>
            </a:r>
            <a:br/>
            <a:r>
              <a:t>g++ -shared -fPIC -o libnvdsinfer_custom_impl_scrfd.so nvdsinfer_custom_parser_scrfd.cpp -Iinclude -I/opt/nvidia/deepstream/deepstream/sources/includes -I/usr/local/cuda/include -O3 -std=c++17</a:t>
            </a:r>
            <a:br/>
            <a:r>
              <a:t>g++ -shared -fPIC -o libnvdsinfer_custom_impl_adaface.so nvdsinfer_custom_parser_adaface.cpp -Iinclude -I/opt/nvidia/deepstream/deepstream/sources/includes -I/usr/local/cuda/include -O3 -std=c++17</a:t>
            </a:r>
            <a:br/>
            <a:br/>
            <a:r>
              <a:t># 2. Start the Pipeline</a:t>
            </a:r>
            <a:br/>
            <a:r>
              <a:t>python3 /app/python_deepstream_pipeline/main.py</a:t>
            </a:r>
          </a:p>
        </p:txBody>
      </p:sp>
      <p:sp>
        <p:nvSpPr>
          <p:cNvPr id="4" name="TextBox 3"/>
          <p:cNvSpPr txBox="1"/>
          <p:nvPr/>
        </p:nvSpPr>
        <p:spPr>
          <a:xfrm>
            <a:off x="6217920" y="1645920"/>
            <a:ext cx="5120640" cy="4114800"/>
          </a:xfrm>
          <a:prstGeom prst="rect">
            <a:avLst/>
          </a:prstGeom>
          <a:noFill/>
        </p:spPr>
        <p:txBody>
          <a:bodyPr wrap="square">
            <a:spAutoFit/>
          </a:bodyPr>
          <a:lstStyle/>
          <a:p>
            <a:pPr>
              <a:spcAft>
                <a:spcPts val="800"/>
              </a:spcAft>
              <a:defRPr sz="2000" b="1">
                <a:solidFill>
                  <a:srgbClr val="3B82F6"/>
                </a:solidFill>
                <a:latin typeface="Calibri"/>
              </a:defRPr>
            </a:pPr>
            <a:r>
              <a:t>C++ Native Execution</a:t>
            </a:r>
          </a:p>
          <a:p>
            <a:pPr>
              <a:defRPr sz="1000">
                <a:solidFill>
                  <a:srgbClr val="F1F5F9"/>
                </a:solidFill>
                <a:latin typeface="Courier New"/>
              </a:defRPr>
            </a:pPr>
            <a:r>
              <a:t># 1. Compile Parsers in C++ dir</a:t>
            </a:r>
            <a:br/>
            <a:r>
              <a:t>cd /app/cpp_deepstream_pipeline/custom_parser</a:t>
            </a:r>
            <a:br/>
            <a:r>
              <a:t>g++ -shared -fPIC -o libnvdsinfer_custom_impl_scrfd.so nvdsinfer_custom_parser_scrfd.cpp -Iinclude -I/opt/nvidia/deepstream/deepstream/sources/includes -I/usr/local/cuda/include -O3 -std=c++17</a:t>
            </a:r>
            <a:br/>
            <a:r>
              <a:t>g++ -shared -fPIC -o libnvdsinfer_custom_impl_adaface.so nvdsinfer_custom_parser_adaface.cpp -Iinclude -I/opt/nvidia/deepstream/deepstream/sources/includes -I/usr/local/cuda/include -O3 -std=c++17</a:t>
            </a:r>
            <a:br/>
            <a:br/>
            <a:r>
              <a:t># 2. Start deepstream-app</a:t>
            </a:r>
            <a:br/>
            <a:r>
              <a:t>cd /app/cpp_deepstream_pipeline/configs</a:t>
            </a:r>
            <a:br/>
            <a:r>
              <a:t>deepstream-app -c ha_meem_master_config.txt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600" b="1">
                <a:solidFill>
                  <a:srgbClr val="F1F5F9"/>
                </a:solidFill>
                <a:latin typeface="Calibri"/>
              </a:defRPr>
            </a:pPr>
            <a:r>
              <a:t>Post-Pipeline: Downstream Event Flow &amp; WhatsApp Alerts</a:t>
            </a:r>
          </a:p>
        </p:txBody>
      </p:sp>
      <p:sp>
        <p:nvSpPr>
          <p:cNvPr id="3" name="TextBox 2"/>
          <p:cNvSpPr txBox="1"/>
          <p:nvPr/>
        </p:nvSpPr>
        <p:spPr>
          <a:xfrm>
            <a:off x="685800" y="1645920"/>
            <a:ext cx="10817352" cy="4114800"/>
          </a:xfrm>
          <a:prstGeom prst="rect">
            <a:avLst/>
          </a:prstGeom>
          <a:noFill/>
        </p:spPr>
        <p:txBody>
          <a:bodyPr wrap="square">
            <a:spAutoFit/>
          </a:bodyPr>
          <a:lstStyle/>
          <a:p/>
          <a:p>
            <a:pPr>
              <a:spcAft>
                <a:spcPts val="1000"/>
              </a:spcAft>
              <a:defRPr sz="1600" b="1">
                <a:solidFill>
                  <a:srgbClr val="10B981"/>
                </a:solidFill>
              </a:defRPr>
            </a:pPr>
            <a:r>
              <a:t>✦ Structured Local Outputs: </a:t>
            </a:r>
            <a:r>
              <a:rPr sz="1400">
                <a:solidFill>
                  <a:srgbClr val="F1F5F9"/>
                </a:solidFill>
              </a:rPr>
              <a:t>The active GStreamer pipeline records events to 'logs/events.jsonl' and crops face snapshots to the 'snapshots/' directory in real-time.</a:t>
            </a:r>
          </a:p>
          <a:p>
            <a:pPr>
              <a:spcAft>
                <a:spcPts val="1000"/>
              </a:spcAft>
              <a:defRPr sz="1600" b="1">
                <a:solidFill>
                  <a:srgbClr val="10B981"/>
                </a:solidFill>
              </a:defRPr>
            </a:pPr>
            <a:r>
              <a:t>✦ FastAPI Server (apps/api_server/main.py): </a:t>
            </a:r>
            <a:r>
              <a:rPr sz="1400">
                <a:solidFill>
                  <a:srgbClr val="F1F5F9"/>
                </a:solidFill>
              </a:rPr>
              <a:t>Exposes the local events log over HTTP, offering REST endpoints and a Server-Sent Events (SSE) stream for real-time dashboard updates.</a:t>
            </a:r>
          </a:p>
          <a:p>
            <a:pPr>
              <a:spcAft>
                <a:spcPts val="1000"/>
              </a:spcAft>
              <a:defRPr sz="1600" b="1">
                <a:solidFill>
                  <a:srgbClr val="10B981"/>
                </a:solidFill>
              </a:defRPr>
            </a:pPr>
            <a:r>
              <a:t>✦ WhatsApp Bot (apps/alert_bot/whatsapp_bot.py): </a:t>
            </a:r>
            <a:r>
              <a:rPr sz="1400">
                <a:solidFill>
                  <a:srgbClr val="F1F5F9"/>
                </a:solidFill>
              </a:rPr>
              <a:t>A background worker that polls the API server, compresses snapshot crops, and drives WhatsApp Web using Selenium to send instant alerts.</a:t>
            </a:r>
          </a:p>
          <a:p>
            <a:pPr>
              <a:spcAft>
                <a:spcPts val="1000"/>
              </a:spcAft>
              <a:defRPr sz="1600" b="1">
                <a:solidFill>
                  <a:srgbClr val="10B981"/>
                </a:solidFill>
              </a:defRPr>
            </a:pPr>
            <a:r>
              <a:t>✦ Asynchronous Post-Inference Lifecycle: </a:t>
            </a:r>
            <a:r>
              <a:rPr sz="1400">
                <a:solidFill>
                  <a:srgbClr val="F1F5F9"/>
                </a:solidFill>
              </a:rPr>
              <a:t>Decoupling the pipelines from the alert handler ensures that alerts are queued and dispatched safely without blocking or slowing down the primary video inference thread.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